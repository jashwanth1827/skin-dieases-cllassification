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74" r:id="rId1"/>
  </p:sldMasterIdLst>
  <p:notesMasterIdLst>
    <p:notesMasterId r:id="rId3"/>
  </p:notesMasterIdLst>
  <p:sldIdLst>
    <p:sldId id="256" r:id="rId2"/>
  </p:sldIdLst>
  <p:sldSz cx="12960350" cy="14039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422">
          <p15:clr>
            <a:srgbClr val="A4A3A4"/>
          </p15:clr>
        </p15:guide>
        <p15:guide id="2" pos="40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D393"/>
    <a:srgbClr val="B8D1DE"/>
    <a:srgbClr val="260ACC"/>
    <a:srgbClr val="3B4A4F"/>
    <a:srgbClr val="FDFD1B"/>
    <a:srgbClr val="4335F7"/>
    <a:srgbClr val="FFFF19"/>
    <a:srgbClr val="CC3300"/>
    <a:srgbClr val="FF00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356" y="1392"/>
      </p:cViewPr>
      <p:guideLst>
        <p:guide orient="horz" pos="4422"/>
        <p:guide pos="4082"/>
      </p:guideLst>
    </p:cSldViewPr>
  </p:slideViewPr>
  <p:notesTextViewPr>
    <p:cViewPr>
      <p:scale>
        <a:sx n="25" d="100"/>
        <a:sy n="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005013" y="1143000"/>
            <a:ext cx="28479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151468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05013" y="1143000"/>
            <a:ext cx="28479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317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562272" y="4886195"/>
            <a:ext cx="9835806" cy="3369564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4961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65049" y="8910625"/>
            <a:ext cx="7230255" cy="2538339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69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48035" indent="0" algn="ctr">
              <a:buNone/>
              <a:defRPr sz="2693"/>
            </a:lvl2pPr>
            <a:lvl3pPr marL="1296071" indent="0" algn="ctr">
              <a:buNone/>
              <a:defRPr sz="2551"/>
            </a:lvl3pPr>
            <a:lvl4pPr marL="1944106" indent="0" algn="ctr">
              <a:buNone/>
              <a:defRPr sz="2268"/>
            </a:lvl4pPr>
            <a:lvl5pPr marL="2592141" indent="0" algn="ctr">
              <a:buNone/>
              <a:defRPr sz="2268"/>
            </a:lvl5pPr>
            <a:lvl6pPr marL="3240176" indent="0" algn="ctr">
              <a:buNone/>
              <a:defRPr sz="2268"/>
            </a:lvl6pPr>
            <a:lvl7pPr marL="3888212" indent="0" algn="ctr">
              <a:buNone/>
              <a:defRPr sz="2268"/>
            </a:lvl7pPr>
            <a:lvl8pPr marL="4536247" indent="0" algn="ctr">
              <a:buNone/>
              <a:defRPr sz="2268"/>
            </a:lvl8pPr>
            <a:lvl9pPr marL="5184282" indent="0" algn="ctr">
              <a:buNone/>
              <a:defRPr sz="22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49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133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568202" y="4886195"/>
            <a:ext cx="9836906" cy="3369564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4961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5049" y="8910463"/>
            <a:ext cx="7230255" cy="2589904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693">
                <a:solidFill>
                  <a:schemeClr val="tx1"/>
                </a:solidFill>
              </a:defRPr>
            </a:lvl1pPr>
            <a:lvl2pPr marL="648035" indent="0">
              <a:buNone/>
              <a:defRPr sz="2693">
                <a:solidFill>
                  <a:schemeClr val="tx1">
                    <a:tint val="75000"/>
                  </a:schemeClr>
                </a:solidFill>
              </a:defRPr>
            </a:lvl2pPr>
            <a:lvl3pPr marL="1296071" indent="0">
              <a:buNone/>
              <a:defRPr sz="2551">
                <a:solidFill>
                  <a:schemeClr val="tx1">
                    <a:tint val="75000"/>
                  </a:schemeClr>
                </a:solidFill>
              </a:defRPr>
            </a:lvl3pPr>
            <a:lvl4pPr marL="1944106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4pPr>
            <a:lvl5pPr marL="2592141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5pPr>
            <a:lvl6pPr marL="3240176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6pPr>
            <a:lvl7pPr marL="3888212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7pPr>
            <a:lvl8pPr marL="4536247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8pPr>
            <a:lvl9pPr marL="5184282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37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2271" y="5400663"/>
            <a:ext cx="4660316" cy="63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37762" y="5400663"/>
            <a:ext cx="4663849" cy="63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5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271" y="4736114"/>
            <a:ext cx="4660317" cy="1441423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693" b="0" cap="all" spc="142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648035" indent="0">
              <a:buNone/>
              <a:defRPr sz="2693" b="1"/>
            </a:lvl2pPr>
            <a:lvl3pPr marL="1296071" indent="0">
              <a:buNone/>
              <a:defRPr sz="2551" b="1"/>
            </a:lvl3pPr>
            <a:lvl4pPr marL="1944106" indent="0">
              <a:buNone/>
              <a:defRPr sz="2268" b="1"/>
            </a:lvl4pPr>
            <a:lvl5pPr marL="2592141" indent="0">
              <a:buNone/>
              <a:defRPr sz="2268" b="1"/>
            </a:lvl5pPr>
            <a:lvl6pPr marL="3240176" indent="0">
              <a:buNone/>
              <a:defRPr sz="2268" b="1"/>
            </a:lvl6pPr>
            <a:lvl7pPr marL="3888212" indent="0">
              <a:buNone/>
              <a:defRPr sz="2268" b="1"/>
            </a:lvl7pPr>
            <a:lvl8pPr marL="4536247" indent="0">
              <a:buNone/>
              <a:defRPr sz="2268" b="1"/>
            </a:lvl8pPr>
            <a:lvl9pPr marL="5184282" indent="0">
              <a:buNone/>
              <a:defRPr sz="22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2271" y="6434931"/>
            <a:ext cx="4660317" cy="5316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37762" y="6434931"/>
            <a:ext cx="4663849" cy="5316178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737762" y="4736114"/>
            <a:ext cx="4663849" cy="1441423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693" b="0" cap="all" spc="142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648035" indent="0">
              <a:buNone/>
              <a:defRPr sz="2693" b="1"/>
            </a:lvl2pPr>
            <a:lvl3pPr marL="1296071" indent="0">
              <a:buNone/>
              <a:defRPr sz="2551" b="1"/>
            </a:lvl3pPr>
            <a:lvl4pPr marL="1944106" indent="0">
              <a:buNone/>
              <a:defRPr sz="2268" b="1"/>
            </a:lvl4pPr>
            <a:lvl5pPr marL="2592141" indent="0">
              <a:buNone/>
              <a:defRPr sz="2268" b="1"/>
            </a:lvl5pPr>
            <a:lvl6pPr marL="3240176" indent="0">
              <a:buNone/>
              <a:defRPr sz="2268" b="1"/>
            </a:lvl6pPr>
            <a:lvl7pPr marL="3888212" indent="0">
              <a:buNone/>
              <a:defRPr sz="2268" b="1"/>
            </a:lvl7pPr>
            <a:lvl8pPr marL="4536247" indent="0">
              <a:buNone/>
              <a:defRPr sz="2268" b="1"/>
            </a:lvl8pPr>
            <a:lvl9pPr marL="5184282" indent="0">
              <a:buNone/>
              <a:defRPr sz="22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9556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54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22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480175" cy="14039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908108" y="4593618"/>
            <a:ext cx="4663960" cy="2336898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977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0594" y="1647343"/>
            <a:ext cx="5119338" cy="10745165"/>
          </a:xfrm>
        </p:spPr>
        <p:txBody>
          <a:bodyPr>
            <a:normAutofit/>
          </a:bodyPr>
          <a:lstStyle>
            <a:lvl1pPr>
              <a:defRPr sz="2693">
                <a:solidFill>
                  <a:schemeClr val="tx1"/>
                </a:solidFill>
              </a:defRPr>
            </a:lvl1pPr>
            <a:lvl2pPr>
              <a:defRPr sz="2268">
                <a:solidFill>
                  <a:schemeClr val="tx1"/>
                </a:solidFill>
              </a:defRPr>
            </a:lvl2pPr>
            <a:lvl3pPr>
              <a:defRPr sz="2268">
                <a:solidFill>
                  <a:schemeClr val="tx1"/>
                </a:solidFill>
              </a:defRPr>
            </a:lvl3pPr>
            <a:lvl4pPr>
              <a:defRPr sz="2268">
                <a:solidFill>
                  <a:schemeClr val="tx1"/>
                </a:solidFill>
              </a:defRPr>
            </a:lvl4pPr>
            <a:lvl5pPr>
              <a:defRPr sz="2268">
                <a:solidFill>
                  <a:schemeClr val="tx1"/>
                </a:solidFill>
              </a:defRPr>
            </a:lvl5pPr>
            <a:lvl6pPr>
              <a:defRPr sz="2268"/>
            </a:lvl6pPr>
            <a:lvl7pPr>
              <a:defRPr sz="2268"/>
            </a:lvl7pPr>
            <a:lvl8pPr>
              <a:defRPr sz="2268"/>
            </a:lvl8pPr>
            <a:lvl9pPr>
              <a:defRPr sz="22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3133" y="7267471"/>
            <a:ext cx="4033909" cy="4491679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2126">
                <a:solidFill>
                  <a:srgbClr val="FFFFFF"/>
                </a:solidFill>
              </a:defRPr>
            </a:lvl1pPr>
            <a:lvl2pPr marL="648035" indent="0">
              <a:buNone/>
              <a:defRPr sz="1984"/>
            </a:lvl2pPr>
            <a:lvl3pPr marL="1296071" indent="0">
              <a:buNone/>
              <a:defRPr sz="1701"/>
            </a:lvl3pPr>
            <a:lvl4pPr marL="1944106" indent="0">
              <a:buNone/>
              <a:defRPr sz="1417"/>
            </a:lvl4pPr>
            <a:lvl5pPr marL="2592141" indent="0">
              <a:buNone/>
              <a:defRPr sz="1417"/>
            </a:lvl5pPr>
            <a:lvl6pPr marL="3240176" indent="0">
              <a:buNone/>
              <a:defRPr sz="1417"/>
            </a:lvl6pPr>
            <a:lvl7pPr marL="3888212" indent="0">
              <a:buNone/>
              <a:defRPr sz="1417"/>
            </a:lvl7pPr>
            <a:lvl8pPr marL="4536247" indent="0">
              <a:buNone/>
              <a:defRPr sz="1417"/>
            </a:lvl8pPr>
            <a:lvl9pPr marL="5184282" indent="0">
              <a:buNone/>
              <a:defRPr sz="14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908108" y="12766904"/>
            <a:ext cx="5395040" cy="655193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19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" y="0"/>
            <a:ext cx="6480174" cy="14039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907225" y="4593615"/>
            <a:ext cx="4665726" cy="2339975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977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80176" y="-86335"/>
            <a:ext cx="6486657" cy="1403985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4536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648035" indent="0">
              <a:buNone/>
              <a:defRPr sz="3969"/>
            </a:lvl2pPr>
            <a:lvl3pPr marL="1296071" indent="0">
              <a:buNone/>
              <a:defRPr sz="3402"/>
            </a:lvl3pPr>
            <a:lvl4pPr marL="1944106" indent="0">
              <a:buNone/>
              <a:defRPr sz="2835"/>
            </a:lvl4pPr>
            <a:lvl5pPr marL="2592141" indent="0">
              <a:buNone/>
              <a:defRPr sz="2835"/>
            </a:lvl5pPr>
            <a:lvl6pPr marL="3240176" indent="0">
              <a:buNone/>
              <a:defRPr sz="2835"/>
            </a:lvl6pPr>
            <a:lvl7pPr marL="3888212" indent="0">
              <a:buNone/>
              <a:defRPr sz="2835"/>
            </a:lvl7pPr>
            <a:lvl8pPr marL="4536247" indent="0">
              <a:buNone/>
              <a:defRPr sz="2835"/>
            </a:lvl8pPr>
            <a:lvl9pPr marL="5184282" indent="0">
              <a:buNone/>
              <a:defRPr sz="283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3133" y="7267474"/>
            <a:ext cx="4033909" cy="4491681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2126">
                <a:solidFill>
                  <a:srgbClr val="FFFFFF"/>
                </a:solidFill>
              </a:defRPr>
            </a:lvl1pPr>
            <a:lvl2pPr marL="648035" indent="0">
              <a:buNone/>
              <a:defRPr sz="1984"/>
            </a:lvl2pPr>
            <a:lvl3pPr marL="1296071" indent="0">
              <a:buNone/>
              <a:defRPr sz="1701"/>
            </a:lvl3pPr>
            <a:lvl4pPr marL="1944106" indent="0">
              <a:buNone/>
              <a:defRPr sz="1417"/>
            </a:lvl4pPr>
            <a:lvl5pPr marL="2592141" indent="0">
              <a:buNone/>
              <a:defRPr sz="1417"/>
            </a:lvl5pPr>
            <a:lvl6pPr marL="3240176" indent="0">
              <a:buNone/>
              <a:defRPr sz="1417"/>
            </a:lvl6pPr>
            <a:lvl7pPr marL="3888212" indent="0">
              <a:buNone/>
              <a:defRPr sz="1417"/>
            </a:lvl7pPr>
            <a:lvl8pPr marL="4536247" indent="0">
              <a:buNone/>
              <a:defRPr sz="1417"/>
            </a:lvl8pPr>
            <a:lvl9pPr marL="5184282" indent="0">
              <a:buNone/>
              <a:defRPr sz="14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907224" y="12766904"/>
            <a:ext cx="5391506" cy="655193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560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3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98439" y="1918780"/>
            <a:ext cx="1493850" cy="102022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76347" y="1918780"/>
            <a:ext cx="6684522" cy="102022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73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76346" y="1974939"/>
            <a:ext cx="8415943" cy="2433574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76346" y="5400665"/>
            <a:ext cx="8415943" cy="6350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4321" y="12772243"/>
            <a:ext cx="2927290" cy="6632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271" y="12766904"/>
            <a:ext cx="6458438" cy="655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9214" y="12729464"/>
            <a:ext cx="518414" cy="748792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559" spc="0" baseline="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43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sldNum="0" hdr="0" ftr="0" dt="0"/>
  <p:txStyles>
    <p:titleStyle>
      <a:lvl1pPr algn="ctr" defTabSz="1296071" rtl="0" eaLnBrk="1" latinLnBrk="0" hangingPunct="1">
        <a:lnSpc>
          <a:spcPct val="90000"/>
        </a:lnSpc>
        <a:spcBef>
          <a:spcPct val="0"/>
        </a:spcBef>
        <a:buNone/>
        <a:defRPr sz="3685" kern="1200" cap="all" spc="283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324018" indent="-324018" algn="l" defTabSz="1296071" rtl="0" eaLnBrk="1" latinLnBrk="0" hangingPunct="1">
        <a:lnSpc>
          <a:spcPct val="100000"/>
        </a:lnSpc>
        <a:spcBef>
          <a:spcPts val="1417"/>
        </a:spcBef>
        <a:buClr>
          <a:schemeClr val="accent2"/>
        </a:buClr>
        <a:buFont typeface="Arial" panose="020B0604020202020204" pitchFamily="34" charset="0"/>
        <a:buChar char="•"/>
        <a:defRPr sz="255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48035" indent="-324018" algn="l" defTabSz="1296071" rtl="0" eaLnBrk="1" latinLnBrk="0" hangingPunct="1">
        <a:lnSpc>
          <a:spcPct val="100000"/>
        </a:lnSpc>
        <a:spcBef>
          <a:spcPts val="1417"/>
        </a:spcBef>
        <a:buClr>
          <a:schemeClr val="accent2"/>
        </a:buClr>
        <a:buFont typeface="Arial" panose="020B0604020202020204" pitchFamily="34" charset="0"/>
        <a:buChar char="•"/>
        <a:defRPr sz="226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972053" indent="-324018" algn="l" defTabSz="1296071" rtl="0" eaLnBrk="1" latinLnBrk="0" hangingPunct="1">
        <a:lnSpc>
          <a:spcPct val="100000"/>
        </a:lnSpc>
        <a:spcBef>
          <a:spcPts val="1417"/>
        </a:spcBef>
        <a:buClr>
          <a:schemeClr val="accent2"/>
        </a:buClr>
        <a:buFont typeface="Arial" panose="020B0604020202020204" pitchFamily="34" charset="0"/>
        <a:buChar char="•"/>
        <a:defRPr sz="226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296071" indent="-324018" algn="l" defTabSz="1296071" rtl="0" eaLnBrk="1" latinLnBrk="0" hangingPunct="1">
        <a:lnSpc>
          <a:spcPct val="100000"/>
        </a:lnSpc>
        <a:spcBef>
          <a:spcPts val="1417"/>
        </a:spcBef>
        <a:buClr>
          <a:schemeClr val="accent2"/>
        </a:buClr>
        <a:buFont typeface="Arial" panose="020B0604020202020204" pitchFamily="34" charset="0"/>
        <a:buChar char="•"/>
        <a:defRPr sz="226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620088" indent="-324018" algn="l" defTabSz="1296071" rtl="0" eaLnBrk="1" latinLnBrk="0" hangingPunct="1">
        <a:lnSpc>
          <a:spcPct val="100000"/>
        </a:lnSpc>
        <a:spcBef>
          <a:spcPts val="1417"/>
        </a:spcBef>
        <a:buClr>
          <a:schemeClr val="accent2"/>
        </a:buClr>
        <a:buFont typeface="Arial" panose="020B0604020202020204" pitchFamily="34" charset="0"/>
        <a:buChar char="•"/>
        <a:defRPr sz="226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863101" indent="-324018" algn="l" defTabSz="1296071" rtl="0" eaLnBrk="1" latinLnBrk="0" hangingPunct="1">
        <a:lnSpc>
          <a:spcPct val="100000"/>
        </a:lnSpc>
        <a:spcBef>
          <a:spcPts val="1417"/>
        </a:spcBef>
        <a:buClr>
          <a:schemeClr val="accent2"/>
        </a:buClr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324018" algn="l" defTabSz="1296071" rtl="0" eaLnBrk="1" latinLnBrk="0" hangingPunct="1">
        <a:lnSpc>
          <a:spcPct val="100000"/>
        </a:lnSpc>
        <a:spcBef>
          <a:spcPts val="1417"/>
        </a:spcBef>
        <a:buClr>
          <a:schemeClr val="accent2"/>
        </a:buClr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2349128" indent="-324018" algn="l" defTabSz="1296071" rtl="0" eaLnBrk="1" latinLnBrk="0" hangingPunct="1">
        <a:lnSpc>
          <a:spcPct val="100000"/>
        </a:lnSpc>
        <a:spcBef>
          <a:spcPts val="1417"/>
        </a:spcBef>
        <a:buClr>
          <a:schemeClr val="accent2"/>
        </a:buClr>
        <a:buFont typeface="Arial" panose="020B0604020202020204" pitchFamily="34" charset="0"/>
        <a:buChar char="•"/>
        <a:defRPr sz="2268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592141" indent="-324018" algn="l" defTabSz="1296071" rtl="0" eaLnBrk="1" latinLnBrk="0" hangingPunct="1">
        <a:lnSpc>
          <a:spcPct val="100000"/>
        </a:lnSpc>
        <a:spcBef>
          <a:spcPts val="1417"/>
        </a:spcBef>
        <a:buClr>
          <a:schemeClr val="accent2"/>
        </a:buClr>
        <a:buFont typeface="Arial" panose="020B0604020202020204" pitchFamily="34" charset="0"/>
        <a:buChar char="•"/>
        <a:defRPr sz="2268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1pPr>
      <a:lvl2pPr marL="648035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96071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3pPr>
      <a:lvl4pPr marL="1944106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592141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240176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3888212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536247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184282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 t="-32000" b="-32000"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1441302"/>
            <a:ext cx="12922057" cy="60329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  <a:headEnd type="none" w="sm" len="sm"/>
            <a:tailEnd type="none" w="sm" len="sm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19"/>
                </a:solidFill>
                <a:latin typeface="Castellar" panose="020A0402060406010301" pitchFamily="18" charset="0"/>
                <a:ea typeface="Century"/>
                <a:cs typeface="Century"/>
                <a:sym typeface="Century"/>
              </a:rPr>
              <a:t>SKIN DISEASE CLASSIFICATION </a:t>
            </a:r>
            <a:endParaRPr sz="3200" b="1" dirty="0">
              <a:solidFill>
                <a:srgbClr val="FFFF19"/>
              </a:solidFill>
              <a:latin typeface="Castellar" panose="020A0402060406010301" pitchFamily="18" charset="0"/>
              <a:ea typeface="Century"/>
              <a:cs typeface="Century"/>
              <a:sym typeface="Century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31537" y="2081250"/>
            <a:ext cx="6105583" cy="42424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bg1"/>
                </a:solidFill>
                <a:latin typeface="Calisto MT" panose="02040603050505030304" pitchFamily="18" charset="0"/>
                <a:ea typeface="Bodoni"/>
                <a:cs typeface="Bodoni"/>
                <a:sym typeface="Bodoni"/>
              </a:rPr>
              <a:t>Problem Statement:</a:t>
            </a:r>
            <a:endParaRPr sz="2800" b="1" dirty="0">
              <a:solidFill>
                <a:schemeClr val="bg1"/>
              </a:solidFill>
              <a:latin typeface="Calisto MT" panose="02040603050505030304" pitchFamily="18" charset="0"/>
              <a:ea typeface="Bodoni"/>
              <a:cs typeface="Bodoni"/>
              <a:sym typeface="Bodon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-22635" y="3652129"/>
            <a:ext cx="12988984" cy="589383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Calisto MT" panose="02040603050505030304" pitchFamily="18" charset="0"/>
                <a:ea typeface="Bodoni"/>
                <a:cs typeface="Bodoni"/>
                <a:sym typeface="Bodoni"/>
              </a:rPr>
              <a:t>Conceptual Design</a:t>
            </a:r>
            <a:r>
              <a:rPr lang="en-US" sz="2800" b="1" dirty="0">
                <a:solidFill>
                  <a:schemeClr val="bg1"/>
                </a:solidFill>
                <a:latin typeface="Calisto MT" panose="02040603050505030304" pitchFamily="18" charset="0"/>
                <a:ea typeface="Bodoni"/>
                <a:cs typeface="Bodoni"/>
                <a:sym typeface="Bodoni"/>
              </a:rPr>
              <a:t>:</a:t>
            </a:r>
            <a:endParaRPr sz="2800" b="1" dirty="0">
              <a:solidFill>
                <a:schemeClr val="bg1"/>
              </a:solidFill>
              <a:latin typeface="Calisto MT" panose="02040603050505030304" pitchFamily="18" charset="0"/>
              <a:ea typeface="Bodoni"/>
              <a:cs typeface="Bodoni"/>
              <a:sym typeface="Bodon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6768020" y="2104901"/>
            <a:ext cx="6028442" cy="44147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alisto MT" panose="02040603050505030304" pitchFamily="18" charset="0"/>
                <a:ea typeface="Bodoni"/>
                <a:cs typeface="Bodoni"/>
                <a:sym typeface="Bodoni"/>
              </a:rPr>
              <a:t>Objective</a:t>
            </a:r>
            <a:r>
              <a:rPr lang="en-US" sz="2800" b="1" dirty="0">
                <a:solidFill>
                  <a:schemeClr val="bg1"/>
                </a:solidFill>
                <a:latin typeface="Bodoni"/>
                <a:ea typeface="Bodoni"/>
                <a:cs typeface="Bodoni"/>
                <a:sym typeface="Bodoni"/>
              </a:rPr>
              <a:t>:</a:t>
            </a:r>
            <a:endParaRPr sz="2800" b="1" dirty="0">
              <a:solidFill>
                <a:schemeClr val="bg1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55490" y="2542148"/>
            <a:ext cx="6099169" cy="1034474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1" dirty="0">
                <a:solidFill>
                  <a:schemeClr val="dk1"/>
                </a:solidFill>
                <a:highlight>
                  <a:srgbClr val="C0C0C0"/>
                </a:highlight>
                <a:latin typeface="Montserrat SemiBold" pitchFamily="2" charset="0"/>
                <a:ea typeface="Calibri"/>
                <a:cs typeface="Calibri"/>
                <a:sym typeface="Calibri"/>
              </a:rPr>
              <a:t>Develop an accurate and efficient CNN based system for the classification of skin diseases from digital images.</a:t>
            </a:r>
            <a:endParaRPr sz="2041" dirty="0">
              <a:solidFill>
                <a:schemeClr val="dk1"/>
              </a:solidFill>
              <a:highlight>
                <a:srgbClr val="C0C0C0"/>
              </a:highlight>
              <a:latin typeface="Montserrat SemiBold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6817473" y="2568075"/>
            <a:ext cx="5929536" cy="107717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highlight>
                  <a:srgbClr val="C0C0C0"/>
                </a:highlight>
                <a:latin typeface="Montserrat SemiBold" pitchFamily="2" charset="0"/>
                <a:ea typeface="Calibri"/>
                <a:cs typeface="Calibri"/>
                <a:sym typeface="Calibri"/>
              </a:rPr>
              <a:t>The objective of skin disease classification using </a:t>
            </a:r>
            <a:r>
              <a:rPr lang="en-US" sz="1600" dirty="0" smtClean="0">
                <a:solidFill>
                  <a:schemeClr val="dk1"/>
                </a:solidFill>
                <a:highlight>
                  <a:srgbClr val="C0C0C0"/>
                </a:highlight>
                <a:latin typeface="Montserrat SemiBold" pitchFamily="2" charset="0"/>
                <a:ea typeface="Calibri"/>
                <a:cs typeface="Calibri"/>
                <a:sym typeface="Calibri"/>
              </a:rPr>
              <a:t>CNN </a:t>
            </a:r>
            <a:r>
              <a:rPr lang="en-US" sz="1600" dirty="0">
                <a:solidFill>
                  <a:schemeClr val="dk1"/>
                </a:solidFill>
                <a:highlight>
                  <a:srgbClr val="C0C0C0"/>
                </a:highlight>
                <a:latin typeface="Montserrat SemiBold" pitchFamily="2" charset="0"/>
                <a:ea typeface="Calibri"/>
                <a:cs typeface="Calibri"/>
                <a:sym typeface="Calibri"/>
              </a:rPr>
              <a:t>is to develop an accurate and efficient computer-aided diagnostic system that can assist dermatologists in the early and precise identification of various skin diseases from digital images.</a:t>
            </a:r>
            <a:endParaRPr sz="1600" dirty="0">
              <a:solidFill>
                <a:schemeClr val="dk1"/>
              </a:solidFill>
              <a:highlight>
                <a:srgbClr val="C0C0C0"/>
              </a:highlight>
              <a:latin typeface="Montserrat SemiBold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8940042" y="8325578"/>
            <a:ext cx="3982015" cy="496021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Calisto MT" panose="02040603050505030304" pitchFamily="18" charset="0"/>
                <a:ea typeface="Bodoni"/>
                <a:cs typeface="Bodoni"/>
                <a:sym typeface="Bodoni"/>
              </a:rPr>
              <a:t>Results:</a:t>
            </a:r>
            <a:endParaRPr sz="2800" b="1" dirty="0">
              <a:solidFill>
                <a:schemeClr val="bg1">
                  <a:lumMod val="95000"/>
                  <a:lumOff val="5000"/>
                </a:schemeClr>
              </a:solidFill>
              <a:latin typeface="Calisto MT" panose="02040603050505030304" pitchFamily="18" charset="0"/>
              <a:ea typeface="Bodoni"/>
              <a:cs typeface="Bodoni"/>
              <a:sym typeface="Bodon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9417398" y="9284310"/>
            <a:ext cx="2918162" cy="2246729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000" dirty="0" smtClean="0">
                <a:solidFill>
                  <a:schemeClr val="dk1"/>
                </a:solidFill>
                <a:latin typeface="Bahnschrift Light SemiCondensed" panose="020B0502040204020203" pitchFamily="34" charset="0"/>
                <a:ea typeface="Calibri"/>
                <a:cs typeface="Arial" panose="020B0604020202020204" pitchFamily="34" charset="0"/>
                <a:sym typeface="Calibri"/>
              </a:rPr>
              <a:t>An Accuracy </a:t>
            </a:r>
            <a:r>
              <a:rPr lang="en-US" sz="2000" dirty="0">
                <a:solidFill>
                  <a:schemeClr val="dk1"/>
                </a:solidFill>
                <a:latin typeface="Bahnschrift Light SemiCondensed" panose="020B0502040204020203" pitchFamily="34" charset="0"/>
                <a:ea typeface="Calibri"/>
                <a:cs typeface="Arial" panose="020B0604020202020204" pitchFamily="34" charset="0"/>
                <a:sym typeface="Calibri"/>
              </a:rPr>
              <a:t>of </a:t>
            </a:r>
            <a:r>
              <a:rPr lang="en-US" sz="2000" dirty="0" smtClean="0">
                <a:solidFill>
                  <a:schemeClr val="dk1"/>
                </a:solidFill>
                <a:latin typeface="Bahnschrift Light SemiCondensed" panose="020B0502040204020203" pitchFamily="34" charset="0"/>
                <a:ea typeface="Calibri"/>
                <a:cs typeface="Arial" panose="020B0604020202020204" pitchFamily="34" charset="0"/>
                <a:sym typeface="Calibri"/>
              </a:rPr>
              <a:t>72.9% is achieved..</a:t>
            </a:r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/>
            </a:r>
            <a:b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</a:br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/>
            </a:r>
            <a:b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</a:br>
            <a:r>
              <a:rPr lang="en-US" sz="2000" dirty="0">
                <a:solidFill>
                  <a:schemeClr val="dk1"/>
                </a:solidFill>
                <a:latin typeface="Bahnschrift Light SemiCondensed" panose="020B0502040204020203" pitchFamily="34" charset="0"/>
                <a:ea typeface="Calibri"/>
                <a:cs typeface="Arial" panose="020B0604020202020204" pitchFamily="34" charset="0"/>
                <a:sym typeface="Calibri"/>
              </a:rPr>
              <a:t>Early detection of skin disease improves the treatment outcomes.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22643" y="12132593"/>
            <a:ext cx="5559613" cy="45192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Calisto MT" panose="02040603050505030304" pitchFamily="18" charset="0"/>
                <a:ea typeface="Bodoni"/>
                <a:cs typeface="Bodoni"/>
                <a:sym typeface="Bodoni"/>
              </a:rPr>
              <a:t>Future Scope:</a:t>
            </a:r>
            <a:endParaRPr sz="2800" b="1" dirty="0">
              <a:solidFill>
                <a:schemeClr val="bg1">
                  <a:lumMod val="95000"/>
                  <a:lumOff val="5000"/>
                </a:schemeClr>
              </a:solidFill>
              <a:latin typeface="Calisto MT" panose="02040603050505030304" pitchFamily="18" charset="0"/>
              <a:ea typeface="Bodoni"/>
              <a:cs typeface="Bodoni"/>
              <a:sym typeface="Bodon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70130" y="12657266"/>
            <a:ext cx="5512126" cy="1200288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  <a:latin typeface="Bahnschrift SemiBold" panose="020B0502040204020203" pitchFamily="34" charset="0"/>
              </a:rPr>
              <a:t>1. Enhanced Data Quality and </a:t>
            </a:r>
            <a:r>
              <a:rPr lang="en-US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Quantity</a:t>
            </a:r>
            <a:br>
              <a:rPr lang="en-US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</a:br>
            <a:r>
              <a:rPr lang="en-IN" dirty="0">
                <a:solidFill>
                  <a:schemeClr val="bg1"/>
                </a:solidFill>
                <a:latin typeface="Bahnschrift SemiBold" panose="020B0502040204020203" pitchFamily="34" charset="0"/>
              </a:rPr>
              <a:t>2. Advanced CNN </a:t>
            </a:r>
            <a:r>
              <a:rPr lang="en-IN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Architectures</a:t>
            </a:r>
            <a:br>
              <a:rPr lang="en-IN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</a:br>
            <a:r>
              <a:rPr lang="en-US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3. </a:t>
            </a:r>
            <a:r>
              <a:rPr lang="en-US" dirty="0">
                <a:solidFill>
                  <a:schemeClr val="bg1"/>
                </a:solidFill>
                <a:latin typeface="Bahnschrift SemiBold" panose="020B0502040204020203" pitchFamily="34" charset="0"/>
              </a:rPr>
              <a:t>Mobile and Teledermatology </a:t>
            </a:r>
            <a:r>
              <a:rPr lang="en-US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Applications</a:t>
            </a:r>
            <a:br>
              <a:rPr lang="en-US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</a:br>
            <a:r>
              <a:rPr lang="en-US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4.</a:t>
            </a:r>
            <a:r>
              <a:rPr lang="en-IN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Ethical Considerations</a:t>
            </a:r>
            <a:endParaRPr b="1" dirty="0">
              <a:solidFill>
                <a:schemeClr val="bg1"/>
              </a:solidFill>
              <a:latin typeface="Bahnschrift SemiBold" panose="020B0502040204020203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D:\2024-2025\0.Department\KMEC Logos\Icon 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1" y="42878"/>
            <a:ext cx="1169749" cy="1029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2024-2025\0.Department\Dept. Slogans-Pics\Pics\IIC Logo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4108" y="59784"/>
            <a:ext cx="1341389" cy="1040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2024-2025\0.Department\KMEC Logos\AIDIA Logo\AIDIA Logo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319" y="-42325"/>
            <a:ext cx="1139449" cy="944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2024-2025\0.Department\KMEC Logos\CSI Logo\Csi_logo_india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992" y="2223"/>
            <a:ext cx="1253915" cy="1093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177700" y="730974"/>
            <a:ext cx="1100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lgerian" pitchFamily="82" charset="0"/>
              </a:rPr>
              <a:t>A I D I A</a:t>
            </a:r>
          </a:p>
        </p:txBody>
      </p:sp>
      <p:sp>
        <p:nvSpPr>
          <p:cNvPr id="38" name="Google Shape;95;p1"/>
          <p:cNvSpPr/>
          <p:nvPr/>
        </p:nvSpPr>
        <p:spPr>
          <a:xfrm>
            <a:off x="-13728" y="8301855"/>
            <a:ext cx="8901990" cy="496021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Calisto MT" panose="02040603050505030304" pitchFamily="18" charset="0"/>
                <a:ea typeface="Bodoni"/>
                <a:cs typeface="Bodoni"/>
                <a:sym typeface="Bodoni"/>
              </a:rPr>
              <a:t>So</a:t>
            </a:r>
            <a:r>
              <a:rPr lang="en-US" sz="2800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Calisto MT" panose="02040603050505030304" pitchFamily="18" charset="0"/>
                <a:ea typeface="Bodoni"/>
                <a:cs typeface="Bodoni"/>
                <a:sym typeface="Bodoni"/>
              </a:rPr>
              <a:t>lution  &amp;  Specifications</a:t>
            </a:r>
            <a:r>
              <a:rPr lang="en-US" sz="2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Bodoni"/>
                <a:ea typeface="Bodoni"/>
                <a:cs typeface="Bodoni"/>
                <a:sym typeface="Bodoni"/>
              </a:rPr>
              <a:t>:</a:t>
            </a:r>
            <a:endParaRPr sz="2800" b="1" dirty="0">
              <a:solidFill>
                <a:schemeClr val="bg1">
                  <a:lumMod val="95000"/>
                  <a:lumOff val="5000"/>
                </a:schemeClr>
              </a:solidFill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32" name="Google Shape;92;p1"/>
          <p:cNvSpPr/>
          <p:nvPr/>
        </p:nvSpPr>
        <p:spPr>
          <a:xfrm>
            <a:off x="7495808" y="12018864"/>
            <a:ext cx="5360361" cy="1885823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4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106;p1"/>
          <p:cNvSpPr txBox="1"/>
          <p:nvPr/>
        </p:nvSpPr>
        <p:spPr>
          <a:xfrm>
            <a:off x="7545288" y="12795765"/>
            <a:ext cx="222237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bg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Guide:</a:t>
            </a:r>
            <a:endParaRPr dirty="0">
              <a:solidFill>
                <a:schemeClr val="bg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T. Gayathri ,</a:t>
            </a:r>
            <a:endParaRPr b="1" dirty="0">
              <a:solidFill>
                <a:schemeClr val="bg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Assistant Prof.</a:t>
            </a:r>
            <a:endParaRPr b="1" dirty="0">
              <a:solidFill>
                <a:schemeClr val="bg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4" name="Google Shape;93;p1"/>
          <p:cNvSpPr txBox="1"/>
          <p:nvPr/>
        </p:nvSpPr>
        <p:spPr>
          <a:xfrm>
            <a:off x="9463313" y="12073919"/>
            <a:ext cx="3310901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Team Members</a:t>
            </a:r>
            <a:r>
              <a:rPr lang="en-US" sz="1600" b="1" i="1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endParaRPr sz="1600" dirty="0">
              <a:solidFill>
                <a:schemeClr val="bg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GB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 Jashwanth   245523748071</a:t>
            </a:r>
            <a:endParaRPr lang="en-GB" sz="1600" dirty="0">
              <a:solidFill>
                <a:schemeClr val="bg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GB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 Chinmayee   245523748083</a:t>
            </a:r>
          </a:p>
          <a:p>
            <a:pPr lvl="0"/>
            <a:r>
              <a:rPr lang="en-GB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 Sai Vamshi 245523748097</a:t>
            </a:r>
          </a:p>
          <a:p>
            <a:pPr lvl="0"/>
            <a:r>
              <a:rPr lang="en-GB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 Sri Sreshta 245523748103</a:t>
            </a:r>
          </a:p>
          <a:p>
            <a:pPr lvl="0"/>
            <a:r>
              <a:rPr lang="en-GB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 Sri Kruthin </a:t>
            </a:r>
            <a:r>
              <a:rPr lang="en-GB" sz="1600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245523748111</a:t>
            </a:r>
            <a:endParaRPr lang="en-GB" sz="1600" b="1" dirty="0">
              <a:solidFill>
                <a:schemeClr val="bg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lvl="0"/>
            <a:r>
              <a:rPr lang="en-GB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Anil Rathod   245523748310</a:t>
            </a:r>
            <a:endParaRPr lang="en-GB" sz="1600" dirty="0">
              <a:solidFill>
                <a:schemeClr val="bg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7" name="Google Shape;107;p1"/>
          <p:cNvSpPr txBox="1"/>
          <p:nvPr/>
        </p:nvSpPr>
        <p:spPr>
          <a:xfrm>
            <a:off x="7525820" y="12018864"/>
            <a:ext cx="201019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Department: 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CSE (AI&amp;ML)</a:t>
            </a:r>
            <a:endParaRPr sz="2000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96;p1"/>
          <p:cNvSpPr/>
          <p:nvPr/>
        </p:nvSpPr>
        <p:spPr>
          <a:xfrm>
            <a:off x="0" y="1023316"/>
            <a:ext cx="4379371" cy="44147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alisto MT" panose="02040603050505030304" pitchFamily="18" charset="0"/>
                <a:ea typeface="Bodoni"/>
                <a:cs typeface="Bodoni"/>
                <a:sym typeface="Bodoni"/>
              </a:rPr>
              <a:t>PE </a:t>
            </a:r>
            <a:r>
              <a:rPr lang="en-US" sz="2800" b="1" dirty="0" smtClean="0">
                <a:solidFill>
                  <a:schemeClr val="bg1"/>
                </a:solidFill>
                <a:latin typeface="Calisto MT" panose="02040603050505030304" pitchFamily="18" charset="0"/>
                <a:ea typeface="Bodoni"/>
                <a:cs typeface="Bodoni"/>
                <a:sym typeface="Bodoni"/>
              </a:rPr>
              <a:t>Id: </a:t>
            </a:r>
            <a:r>
              <a:rPr lang="en-US" sz="2800" b="1" dirty="0" smtClean="0">
                <a:solidFill>
                  <a:schemeClr val="tx1">
                    <a:lumMod val="95000"/>
                  </a:schemeClr>
                </a:solidFill>
                <a:latin typeface="Bahnschrift SemiCondensed" panose="020B0502040204020203" pitchFamily="34" charset="0"/>
                <a:ea typeface="Bodoni"/>
                <a:cs typeface="Bodoni"/>
                <a:sym typeface="Bodoni"/>
              </a:rPr>
              <a:t>PE202513</a:t>
            </a:r>
            <a:endParaRPr sz="2800" b="1" dirty="0">
              <a:solidFill>
                <a:schemeClr val="tx1">
                  <a:lumMod val="95000"/>
                </a:schemeClr>
              </a:solidFill>
              <a:latin typeface="Bahnschrift SemiCondensed" panose="020B0502040204020203" pitchFamily="34" charset="0"/>
              <a:ea typeface="Bodoni"/>
              <a:cs typeface="Bodoni"/>
              <a:sym typeface="Bodon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7951" y="8905077"/>
            <a:ext cx="4771370" cy="3139321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1.   Data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Collection and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Preprocessing:</a:t>
            </a:r>
            <a:b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</a:b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     Data Set is collected from Kaggle.</a:t>
            </a:r>
          </a:p>
          <a:p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2.   </a:t>
            </a:r>
            <a:r>
              <a:rPr lang="en-IN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CNN Architecture: </a:t>
            </a:r>
          </a:p>
          <a:p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en-IN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    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Convolutional ,Pooling and Dense</a:t>
            </a:r>
          </a:p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    Layers are applied</a:t>
            </a:r>
          </a:p>
          <a:p>
            <a:pPr marL="342900" indent="-342900">
              <a:buAutoNum type="arabicPeriod" startAt="3"/>
            </a:pPr>
            <a:r>
              <a:rPr lang="en-IN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Training </a:t>
            </a:r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and </a:t>
            </a:r>
            <a:r>
              <a:rPr lang="en-IN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Optimization:</a:t>
            </a:r>
          </a:p>
          <a:p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en-IN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    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The model is trained using fit function.</a:t>
            </a:r>
          </a:p>
          <a:p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4. </a:t>
            </a:r>
            <a:r>
              <a:rPr lang="en-IN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  Evaluation </a:t>
            </a:r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and Validation</a:t>
            </a:r>
            <a:r>
              <a:rPr lang="en-IN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:</a:t>
            </a:r>
          </a:p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 T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he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model's performance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is evaluated on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the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validation  set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using metrics like accuracy,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precision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etc.</a:t>
            </a:r>
            <a:endParaRPr lang="en-IN" b="1" dirty="0" smtClean="0">
              <a:solidFill>
                <a:schemeClr val="bg1">
                  <a:lumMod val="95000"/>
                  <a:lumOff val="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6698" y="8896351"/>
            <a:ext cx="4771370" cy="3103463"/>
          </a:xfrm>
          <a:prstGeom prst="roundRect">
            <a:avLst>
              <a:gd name="adj" fmla="val 4343"/>
            </a:avLst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5268601" y="8896351"/>
            <a:ext cx="2869718" cy="3043607"/>
          </a:xfrm>
          <a:prstGeom prst="roundRect">
            <a:avLst>
              <a:gd name="adj" fmla="val 4343"/>
            </a:avLst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286139" y="8908491"/>
            <a:ext cx="2852179" cy="3031467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-Hardware</a:t>
            </a:r>
          </a:p>
          <a:p>
            <a:r>
              <a:rPr lang="en-US" sz="1600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Sufficient RAM for handling large data</a:t>
            </a:r>
            <a:br>
              <a:rPr lang="en-US" sz="1600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</a:br>
            <a:r>
              <a:rPr lang="en-US" sz="1600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-Software </a:t>
            </a:r>
          </a:p>
          <a:p>
            <a:r>
              <a:rPr lang="en-US" sz="1600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Deep Learning Framework(TensorFlow and Keras)</a:t>
            </a:r>
          </a:p>
          <a:p>
            <a:r>
              <a:rPr lang="en-US" sz="1600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Python Libraries(NumPy and Matplotlib)</a:t>
            </a:r>
          </a:p>
          <a:p>
            <a:r>
              <a:rPr lang="en-US" sz="1600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Optimizers(Adam)</a:t>
            </a:r>
            <a:br>
              <a:rPr lang="en-US" sz="1600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</a:br>
            <a:r>
              <a:rPr lang="en-US" sz="1600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-Model Architecture</a:t>
            </a:r>
            <a:br>
              <a:rPr lang="en-US" sz="1600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</a:br>
            <a:r>
              <a:rPr lang="en-US" sz="1600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 CNN</a:t>
            </a:r>
            <a:endParaRPr lang="en-IN" dirty="0"/>
          </a:p>
        </p:txBody>
      </p:sp>
      <p:sp>
        <p:nvSpPr>
          <p:cNvPr id="42" name="Rounded Rectangle 41"/>
          <p:cNvSpPr/>
          <p:nvPr/>
        </p:nvSpPr>
        <p:spPr>
          <a:xfrm>
            <a:off x="9362828" y="9257178"/>
            <a:ext cx="3027301" cy="2246729"/>
          </a:xfrm>
          <a:prstGeom prst="roundRect">
            <a:avLst>
              <a:gd name="adj" fmla="val 14292"/>
            </a:avLst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2" y="4281435"/>
            <a:ext cx="12834647" cy="40303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20335" y="347999"/>
            <a:ext cx="1497063" cy="723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986</TotalTime>
  <Words>156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Parcel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Admin</cp:lastModifiedBy>
  <cp:revision>44</cp:revision>
  <dcterms:modified xsi:type="dcterms:W3CDTF">2025-01-20T07:15:25Z</dcterms:modified>
</cp:coreProperties>
</file>